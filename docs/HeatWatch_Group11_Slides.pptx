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biz Grup 11. Projemizin adı HeatWatch. New York’ta ısınma ve sıcak su şikâyetlerinin belediye sisteminde 72 saatten uzun açık kalıp kalmayacağını tahmin etmeye çalışıyoruz. Bu, bir tamir süresi tahmini değil, belediye kayıtlarının kapanma süresiyle ilgili bir araştırma.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311, New York Belediyesinin vatandaş başvuru sistemi. Mesela kalorifer çalışmıyorsa kişi şikâyet oluşturabiliyor. Bizim sorumuz başvuru açıldığı anda, bu kaydın 72 saati aşan bir kapanma süresi olup olmayacağı. Kapanmış kayıt tamirin gerçekleştiğinin kanıtı değil. 72 saat de kendi araştırma eşiğimiz.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NYC Open Data üzerinden HEAT/HOT WATER türündeki başvuruları 1 Ekim 2024 ile 31 Mayıs 2025 arasında seçtik. Yaklaşık 280 bin kayıt indirdik. 4.241 kaydın kapanma tarihi yoktu; bunları analize katmadık ama sayısını sakladık. Kalan 276.186 kayıt içinde %17,6’sı 72 saatten sonra kapandı.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grafikte aylık başvuru sayıları var. En yoğun ay Ocak 2025. Burada henüz model kurmuyoruz, sadece veriyi tanıyoruz; bu sürece EDA diyoruz. Grafik bize ısınma şikâyetlerinin yıl içinde sabit olmadığını gösteriyor.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72 saati aşan başvuruların bölgelere göre oranını görüyoruz. Örneğin Manhattan yaklaşık %27, Bronx yaklaşık %10. Ama şu bölge daha kötü hizmet veriyor diyemeyiz: başvuru alışkanlığı, olay türü ve ayların dağılımı farklı olabilir. Bu sonuç neden-sonuç ilişkisi değil.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Sistemimize başvurunun bölgesi, alt türü ve açılış saati gibi baştan bilinen bilgiler giriyor. Logistic Regression ve Random Forest yöntemlerini denedik, ayrıca basit referans model kullandık. Eski aylarda eğitip daha sonraki aylarda test ettik. Kapanış tarihi ve geçen süreyi modele girdi yapmadık; çünkü bu geleceği önceden bilmek olur.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PR-AUC ile modelleri kıyaslıyoruz. Basit model 0,052, lojistik regresyon 0,128, random forest 0,124. Daha yüksek genellikle daha iyi risk sıralaması demek. ROC-AUC açısından random forest 0,697 ile biraz önde. Fakat yüzde 50 eşiğinde random forest hiç risk uyarısı vermiyor. Bu yüzden ilk modelin henüz gerçek karar destek için hazır olduğunu söylemiyoruz.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grafik önemli bir sınırlılığı gösteriyor. Eğitimde geciken şikâyet oranı %20,3, testte ise %5,2; yani veri yapısı mevsime göre değişiyor. Ayrıca kapalı kayıt kesin olarak tamir oldu demek değil. Bir sonraki ödevde basit bir Streamlit ekranı kurup kullanıcıya tahmin ve uyarı göstereceğiz. Sonraki çalışmada farklı dönemlerle testimizi güçlendireceğiz.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SAMSUNG INNOVATION CAMPUS   /   AI FOR THE SDGs</a:t>
            </a:r>
          </a:p>
        </p:txBody>
      </p:sp>
      <p:sp>
        <p:nvSpPr>
          <p:cNvPr id="4" name="TextBox 3"/>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5" name="TextBox 4"/>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01</a:t>
            </a:r>
          </a:p>
        </p:txBody>
      </p:sp>
      <p:sp>
        <p:nvSpPr>
          <p:cNvPr id="6" name="TextBox 5"/>
          <p:cNvSpPr txBox="1"/>
          <p:nvPr/>
        </p:nvSpPr>
        <p:spPr>
          <a:xfrm>
            <a:off x="640080" y="1417320"/>
            <a:ext cx="7315200" cy="777240"/>
          </a:xfrm>
          <a:prstGeom prst="rect">
            <a:avLst/>
          </a:prstGeom>
          <a:noFill/>
        </p:spPr>
        <p:txBody>
          <a:bodyPr wrap="square" lIns="27432" rIns="27432" tIns="18288" bIns="18288">
            <a:spAutoFit/>
          </a:bodyPr>
          <a:lstStyle/>
          <a:p>
            <a:pPr>
              <a:spcAft>
                <a:spcPts val="600"/>
              </a:spcAft>
              <a:defRPr sz="4600" b="1">
                <a:solidFill>
                  <a:srgbClr val="243746"/>
                </a:solidFill>
                <a:latin typeface="Aptos"/>
              </a:defRPr>
            </a:pPr>
            <a:r>
              <a:t>HeatWatch</a:t>
            </a:r>
          </a:p>
        </p:txBody>
      </p:sp>
      <p:sp>
        <p:nvSpPr>
          <p:cNvPr id="7" name="TextBox 6"/>
          <p:cNvSpPr txBox="1"/>
          <p:nvPr/>
        </p:nvSpPr>
        <p:spPr>
          <a:xfrm>
            <a:off x="640080" y="2514600"/>
            <a:ext cx="10515600" cy="1097280"/>
          </a:xfrm>
          <a:prstGeom prst="rect">
            <a:avLst/>
          </a:prstGeom>
          <a:noFill/>
        </p:spPr>
        <p:txBody>
          <a:bodyPr wrap="square" lIns="27432" rIns="27432" tIns="18288" bIns="18288">
            <a:spAutoFit/>
          </a:bodyPr>
          <a:lstStyle/>
          <a:p>
            <a:pPr>
              <a:spcAft>
                <a:spcPts val="600"/>
              </a:spcAft>
              <a:defRPr sz="2600" b="0">
                <a:solidFill>
                  <a:srgbClr val="243746"/>
                </a:solidFill>
                <a:latin typeface="Aptos"/>
              </a:defRPr>
            </a:pPr>
            <a:r>
              <a:t>Can we predict which heating complaints</a:t>
            </a:r>
          </a:p>
          <a:p>
            <a:pPr>
              <a:spcAft>
                <a:spcPts val="600"/>
              </a:spcAft>
              <a:defRPr sz="2600" b="0">
                <a:solidFill>
                  <a:srgbClr val="243746"/>
                </a:solidFill>
                <a:latin typeface="Aptos"/>
              </a:defRPr>
            </a:pPr>
            <a:r>
              <a:t>will remain open for more than 72 hours?</a:t>
            </a:r>
          </a:p>
        </p:txBody>
      </p:sp>
      <p:sp>
        <p:nvSpPr>
          <p:cNvPr id="8" name="Rounded Rectangle 7"/>
          <p:cNvSpPr/>
          <p:nvPr/>
        </p:nvSpPr>
        <p:spPr>
          <a:xfrm>
            <a:off x="640080" y="4334256"/>
            <a:ext cx="10881360" cy="111556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645152"/>
            <a:ext cx="9875520" cy="493776"/>
          </a:xfrm>
          <a:prstGeom prst="rect">
            <a:avLst/>
          </a:prstGeom>
          <a:noFill/>
        </p:spPr>
        <p:txBody>
          <a:bodyPr wrap="square" lIns="27432" rIns="27432" tIns="18288" bIns="18288">
            <a:spAutoFit/>
          </a:bodyPr>
          <a:lstStyle/>
          <a:p>
            <a:pPr>
              <a:spcAft>
                <a:spcPts val="600"/>
              </a:spcAft>
              <a:defRPr sz="2200" b="1">
                <a:solidFill>
                  <a:srgbClr val="137B74"/>
                </a:solidFill>
                <a:latin typeface="Aptos"/>
              </a:defRPr>
            </a:pPr>
            <a:r>
              <a:t>SDG 11.1  •  Adequate housing and basic services</a:t>
            </a:r>
          </a:p>
        </p:txBody>
      </p:sp>
      <p:sp>
        <p:nvSpPr>
          <p:cNvPr id="10" name="TextBox 9"/>
          <p:cNvSpPr txBox="1"/>
          <p:nvPr/>
        </p:nvSpPr>
        <p:spPr>
          <a:xfrm>
            <a:off x="685800" y="5897880"/>
            <a:ext cx="10058400" cy="365760"/>
          </a:xfrm>
          <a:prstGeom prst="rect">
            <a:avLst/>
          </a:prstGeom>
          <a:noFill/>
        </p:spPr>
        <p:txBody>
          <a:bodyPr wrap="square" lIns="27432" rIns="27432" tIns="18288" bIns="18288">
            <a:spAutoFit/>
          </a:bodyPr>
          <a:lstStyle/>
          <a:p>
            <a:pPr>
              <a:spcAft>
                <a:spcPts val="600"/>
              </a:spcAft>
              <a:defRPr sz="1700" b="0">
                <a:solidFill>
                  <a:srgbClr val="6D7B88"/>
                </a:solidFill>
                <a:latin typeface="Aptos"/>
              </a:defRPr>
            </a:pPr>
            <a:r>
              <a:t>Mert Sürmeli   ·   Mehmet Batu Solar   ·   Abdurrahman Dıraz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The problem: a complaint is not a repair</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02</a:t>
            </a:r>
          </a:p>
        </p:txBody>
      </p:sp>
      <p:sp>
        <p:nvSpPr>
          <p:cNvPr id="7" name="Rounded Rectangle 6"/>
          <p:cNvSpPr/>
          <p:nvPr/>
        </p:nvSpPr>
        <p:spPr>
          <a:xfrm>
            <a:off x="548640" y="1737360"/>
            <a:ext cx="5349240" cy="3108960"/>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48840"/>
            <a:ext cx="4846320" cy="1170432"/>
          </a:xfrm>
          <a:prstGeom prst="rect">
            <a:avLst/>
          </a:prstGeom>
          <a:noFill/>
        </p:spPr>
        <p:txBody>
          <a:bodyPr wrap="square" lIns="27432" rIns="27432" tIns="18288" bIns="18288">
            <a:spAutoFit/>
          </a:bodyPr>
          <a:lstStyle/>
          <a:p>
            <a:pPr>
              <a:spcAft>
                <a:spcPts val="600"/>
              </a:spcAft>
              <a:defRPr sz="2400" b="1">
                <a:solidFill>
                  <a:srgbClr val="243746"/>
                </a:solidFill>
                <a:latin typeface="Aptos"/>
              </a:defRPr>
            </a:pPr>
            <a:r>
              <a:t>A tenant reports missing heat</a:t>
            </a:r>
          </a:p>
          <a:p>
            <a:pPr>
              <a:spcAft>
                <a:spcPts val="600"/>
              </a:spcAft>
              <a:defRPr sz="2400" b="1">
                <a:solidFill>
                  <a:srgbClr val="243746"/>
                </a:solidFill>
                <a:latin typeface="Aptos"/>
              </a:defRPr>
            </a:pPr>
            <a:r>
              <a:t>or hot water through 311.</a:t>
            </a:r>
          </a:p>
        </p:txBody>
      </p:sp>
      <p:sp>
        <p:nvSpPr>
          <p:cNvPr id="9" name="TextBox 8"/>
          <p:cNvSpPr txBox="1"/>
          <p:nvPr/>
        </p:nvSpPr>
        <p:spPr>
          <a:xfrm>
            <a:off x="822960" y="3538728"/>
            <a:ext cx="4800600" cy="822960"/>
          </a:xfrm>
          <a:prstGeom prst="rect">
            <a:avLst/>
          </a:prstGeom>
          <a:noFill/>
        </p:spPr>
        <p:txBody>
          <a:bodyPr wrap="square" lIns="27432" rIns="27432" tIns="18288" bIns="18288">
            <a:spAutoFit/>
          </a:bodyPr>
          <a:lstStyle/>
          <a:p>
            <a:pPr>
              <a:spcAft>
                <a:spcPts val="600"/>
              </a:spcAft>
              <a:defRPr sz="1900" b="0">
                <a:solidFill>
                  <a:srgbClr val="243746"/>
                </a:solidFill>
                <a:latin typeface="Aptos"/>
              </a:defRPr>
            </a:pPr>
            <a:r>
              <a:t>The request is logged, handled and eventually closed by an agency.</a:t>
            </a:r>
          </a:p>
        </p:txBody>
      </p:sp>
      <p:sp>
        <p:nvSpPr>
          <p:cNvPr id="10" name="Rounded Rectangle 9"/>
          <p:cNvSpPr/>
          <p:nvPr/>
        </p:nvSpPr>
        <p:spPr>
          <a:xfrm>
            <a:off x="6217920" y="1737360"/>
            <a:ext cx="5349240" cy="3108960"/>
          </a:xfrm>
          <a:prstGeom prst="roundRect">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57400"/>
            <a:ext cx="4937760" cy="502920"/>
          </a:xfrm>
          <a:prstGeom prst="rect">
            <a:avLst/>
          </a:prstGeom>
          <a:noFill/>
        </p:spPr>
        <p:txBody>
          <a:bodyPr wrap="square" lIns="27432" rIns="27432" tIns="18288" bIns="18288">
            <a:spAutoFit/>
          </a:bodyPr>
          <a:lstStyle/>
          <a:p>
            <a:pPr>
              <a:spcAft>
                <a:spcPts val="600"/>
              </a:spcAft>
              <a:defRPr sz="2300" b="1">
                <a:solidFill>
                  <a:srgbClr val="137B74"/>
                </a:solidFill>
                <a:latin typeface="Aptos"/>
              </a:defRPr>
            </a:pPr>
            <a:r>
              <a:t>Our research question</a:t>
            </a:r>
          </a:p>
        </p:txBody>
      </p:sp>
      <p:sp>
        <p:nvSpPr>
          <p:cNvPr id="12" name="TextBox 11"/>
          <p:cNvSpPr txBox="1"/>
          <p:nvPr/>
        </p:nvSpPr>
        <p:spPr>
          <a:xfrm>
            <a:off x="6492240" y="2743200"/>
            <a:ext cx="4800600" cy="1280160"/>
          </a:xfrm>
          <a:prstGeom prst="rect">
            <a:avLst/>
          </a:prstGeom>
          <a:noFill/>
        </p:spPr>
        <p:txBody>
          <a:bodyPr wrap="square" lIns="27432" rIns="27432" tIns="18288" bIns="18288">
            <a:spAutoFit/>
          </a:bodyPr>
          <a:lstStyle/>
          <a:p>
            <a:pPr>
              <a:spcAft>
                <a:spcPts val="600"/>
              </a:spcAft>
              <a:defRPr sz="2500" b="1">
                <a:solidFill>
                  <a:srgbClr val="243746"/>
                </a:solidFill>
                <a:latin typeface="Aptos"/>
              </a:defRPr>
            </a:pPr>
            <a:r>
              <a:t>Will this 311 record close</a:t>
            </a:r>
          </a:p>
          <a:p>
            <a:pPr>
              <a:spcAft>
                <a:spcPts val="600"/>
              </a:spcAft>
              <a:defRPr sz="2500" b="1">
                <a:solidFill>
                  <a:srgbClr val="243746"/>
                </a:solidFill>
                <a:latin typeface="Aptos"/>
              </a:defRPr>
            </a:pPr>
            <a:r>
              <a:t>after more than 72 hours?</a:t>
            </a:r>
          </a:p>
        </p:txBody>
      </p:sp>
      <p:sp>
        <p:nvSpPr>
          <p:cNvPr id="13" name="TextBox 12"/>
          <p:cNvSpPr txBox="1"/>
          <p:nvPr/>
        </p:nvSpPr>
        <p:spPr>
          <a:xfrm>
            <a:off x="603504" y="5239512"/>
            <a:ext cx="10789920" cy="640080"/>
          </a:xfrm>
          <a:prstGeom prst="rect">
            <a:avLst/>
          </a:prstGeom>
          <a:noFill/>
        </p:spPr>
        <p:txBody>
          <a:bodyPr wrap="square" lIns="27432" rIns="27432" tIns="18288" bIns="18288">
            <a:spAutoFit/>
          </a:bodyPr>
          <a:lstStyle/>
          <a:p>
            <a:pPr>
              <a:spcAft>
                <a:spcPts val="600"/>
              </a:spcAft>
              <a:defRPr sz="1800" b="0">
                <a:solidFill>
                  <a:srgbClr val="6D7B88"/>
                </a:solidFill>
                <a:latin typeface="Aptos"/>
              </a:defRPr>
            </a:pPr>
            <a:r>
              <a:t>72 hours is our study threshold — not an official NYC deadline.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Official data: 2024–25 heating season</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03</a:t>
            </a:r>
          </a:p>
        </p:txBody>
      </p:sp>
      <p:sp>
        <p:nvSpPr>
          <p:cNvPr id="7" name="Rounded Rectangle 6"/>
          <p:cNvSpPr/>
          <p:nvPr/>
        </p:nvSpPr>
        <p:spPr>
          <a:xfrm>
            <a:off x="603504" y="1737360"/>
            <a:ext cx="5175504" cy="152704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929384"/>
            <a:ext cx="4663440" cy="512064"/>
          </a:xfrm>
          <a:prstGeom prst="rect">
            <a:avLst/>
          </a:prstGeom>
          <a:noFill/>
        </p:spPr>
        <p:txBody>
          <a:bodyPr wrap="square" lIns="27432" rIns="27432" tIns="18288" bIns="18288">
            <a:spAutoFit/>
          </a:bodyPr>
          <a:lstStyle/>
          <a:p>
            <a:pPr>
              <a:spcAft>
                <a:spcPts val="600"/>
              </a:spcAft>
              <a:defRPr sz="3100" b="1">
                <a:solidFill>
                  <a:srgbClr val="137B74"/>
                </a:solidFill>
                <a:latin typeface="Aptos"/>
              </a:defRPr>
            </a:pPr>
            <a:r>
              <a:t>280,427</a:t>
            </a:r>
          </a:p>
        </p:txBody>
      </p:sp>
      <p:sp>
        <p:nvSpPr>
          <p:cNvPr id="9" name="TextBox 8"/>
          <p:cNvSpPr txBox="1"/>
          <p:nvPr/>
        </p:nvSpPr>
        <p:spPr>
          <a:xfrm>
            <a:off x="804672" y="2670048"/>
            <a:ext cx="4663440" cy="384048"/>
          </a:xfrm>
          <a:prstGeom prst="rect">
            <a:avLst/>
          </a:prstGeom>
          <a:noFill/>
        </p:spPr>
        <p:txBody>
          <a:bodyPr wrap="square" lIns="27432" rIns="27432" tIns="18288" bIns="18288">
            <a:spAutoFit/>
          </a:bodyPr>
          <a:lstStyle/>
          <a:p>
            <a:pPr>
              <a:spcAft>
                <a:spcPts val="600"/>
              </a:spcAft>
              <a:defRPr sz="1800" b="0">
                <a:solidFill>
                  <a:srgbClr val="243746"/>
                </a:solidFill>
                <a:latin typeface="Aptos"/>
              </a:defRPr>
            </a:pPr>
            <a:r>
              <a:t>Downloaded requests</a:t>
            </a:r>
          </a:p>
        </p:txBody>
      </p:sp>
      <p:sp>
        <p:nvSpPr>
          <p:cNvPr id="10" name="Rounded Rectangle 9"/>
          <p:cNvSpPr/>
          <p:nvPr/>
        </p:nvSpPr>
        <p:spPr>
          <a:xfrm>
            <a:off x="6163056" y="1737360"/>
            <a:ext cx="5175504" cy="152704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929384"/>
            <a:ext cx="4663440" cy="512064"/>
          </a:xfrm>
          <a:prstGeom prst="rect">
            <a:avLst/>
          </a:prstGeom>
          <a:noFill/>
        </p:spPr>
        <p:txBody>
          <a:bodyPr wrap="square" lIns="27432" rIns="27432" tIns="18288" bIns="18288">
            <a:spAutoFit/>
          </a:bodyPr>
          <a:lstStyle/>
          <a:p>
            <a:pPr>
              <a:spcAft>
                <a:spcPts val="600"/>
              </a:spcAft>
              <a:defRPr sz="3100" b="1">
                <a:solidFill>
                  <a:srgbClr val="137B74"/>
                </a:solidFill>
                <a:latin typeface="Aptos"/>
              </a:defRPr>
            </a:pPr>
            <a:r>
              <a:t>4,241</a:t>
            </a:r>
          </a:p>
        </p:txBody>
      </p:sp>
      <p:sp>
        <p:nvSpPr>
          <p:cNvPr id="12" name="TextBox 11"/>
          <p:cNvSpPr txBox="1"/>
          <p:nvPr/>
        </p:nvSpPr>
        <p:spPr>
          <a:xfrm>
            <a:off x="6364224" y="2670048"/>
            <a:ext cx="4663440" cy="384048"/>
          </a:xfrm>
          <a:prstGeom prst="rect">
            <a:avLst/>
          </a:prstGeom>
          <a:noFill/>
        </p:spPr>
        <p:txBody>
          <a:bodyPr wrap="square" lIns="27432" rIns="27432" tIns="18288" bIns="18288">
            <a:spAutoFit/>
          </a:bodyPr>
          <a:lstStyle/>
          <a:p>
            <a:pPr>
              <a:spcAft>
                <a:spcPts val="600"/>
              </a:spcAft>
              <a:defRPr sz="1800" b="0">
                <a:solidFill>
                  <a:srgbClr val="243746"/>
                </a:solidFill>
                <a:latin typeface="Aptos"/>
              </a:defRPr>
            </a:pPr>
            <a:r>
              <a:t>Missing closure date</a:t>
            </a:r>
          </a:p>
        </p:txBody>
      </p:sp>
      <p:sp>
        <p:nvSpPr>
          <p:cNvPr id="13" name="Rounded Rectangle 12"/>
          <p:cNvSpPr/>
          <p:nvPr/>
        </p:nvSpPr>
        <p:spPr>
          <a:xfrm>
            <a:off x="603504" y="3566160"/>
            <a:ext cx="5175504" cy="152704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758184"/>
            <a:ext cx="4663440" cy="512064"/>
          </a:xfrm>
          <a:prstGeom prst="rect">
            <a:avLst/>
          </a:prstGeom>
          <a:noFill/>
        </p:spPr>
        <p:txBody>
          <a:bodyPr wrap="square" lIns="27432" rIns="27432" tIns="18288" bIns="18288">
            <a:spAutoFit/>
          </a:bodyPr>
          <a:lstStyle/>
          <a:p>
            <a:pPr>
              <a:spcAft>
                <a:spcPts val="600"/>
              </a:spcAft>
              <a:defRPr sz="3100" b="1">
                <a:solidFill>
                  <a:srgbClr val="137B74"/>
                </a:solidFill>
                <a:latin typeface="Aptos"/>
              </a:defRPr>
            </a:pPr>
            <a:r>
              <a:t>276,186</a:t>
            </a:r>
          </a:p>
        </p:txBody>
      </p:sp>
      <p:sp>
        <p:nvSpPr>
          <p:cNvPr id="15" name="TextBox 14"/>
          <p:cNvSpPr txBox="1"/>
          <p:nvPr/>
        </p:nvSpPr>
        <p:spPr>
          <a:xfrm>
            <a:off x="804672" y="4498848"/>
            <a:ext cx="4663440" cy="384048"/>
          </a:xfrm>
          <a:prstGeom prst="rect">
            <a:avLst/>
          </a:prstGeom>
          <a:noFill/>
        </p:spPr>
        <p:txBody>
          <a:bodyPr wrap="square" lIns="27432" rIns="27432" tIns="18288" bIns="18288">
            <a:spAutoFit/>
          </a:bodyPr>
          <a:lstStyle/>
          <a:p>
            <a:pPr>
              <a:spcAft>
                <a:spcPts val="600"/>
              </a:spcAft>
              <a:defRPr sz="1800" b="0">
                <a:solidFill>
                  <a:srgbClr val="243746"/>
                </a:solidFill>
                <a:latin typeface="Aptos"/>
              </a:defRPr>
            </a:pPr>
            <a:r>
              <a:t>Closed records analysed</a:t>
            </a:r>
          </a:p>
        </p:txBody>
      </p:sp>
      <p:sp>
        <p:nvSpPr>
          <p:cNvPr id="16" name="Rounded Rectangle 15"/>
          <p:cNvSpPr/>
          <p:nvPr/>
        </p:nvSpPr>
        <p:spPr>
          <a:xfrm>
            <a:off x="6163056" y="3566160"/>
            <a:ext cx="5175504" cy="152704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3758184"/>
            <a:ext cx="4663440" cy="512064"/>
          </a:xfrm>
          <a:prstGeom prst="rect">
            <a:avLst/>
          </a:prstGeom>
          <a:noFill/>
        </p:spPr>
        <p:txBody>
          <a:bodyPr wrap="square" lIns="27432" rIns="27432" tIns="18288" bIns="18288">
            <a:spAutoFit/>
          </a:bodyPr>
          <a:lstStyle/>
          <a:p>
            <a:pPr>
              <a:spcAft>
                <a:spcPts val="600"/>
              </a:spcAft>
              <a:defRPr sz="3100" b="1">
                <a:solidFill>
                  <a:srgbClr val="137B74"/>
                </a:solidFill>
                <a:latin typeface="Aptos"/>
              </a:defRPr>
            </a:pPr>
            <a:r>
              <a:t>17.6%</a:t>
            </a:r>
          </a:p>
        </p:txBody>
      </p:sp>
      <p:sp>
        <p:nvSpPr>
          <p:cNvPr id="18" name="TextBox 17"/>
          <p:cNvSpPr txBox="1"/>
          <p:nvPr/>
        </p:nvSpPr>
        <p:spPr>
          <a:xfrm>
            <a:off x="6364224" y="4498848"/>
            <a:ext cx="4663440" cy="384048"/>
          </a:xfrm>
          <a:prstGeom prst="rect">
            <a:avLst/>
          </a:prstGeom>
          <a:noFill/>
        </p:spPr>
        <p:txBody>
          <a:bodyPr wrap="square" lIns="27432" rIns="27432" tIns="18288" bIns="18288">
            <a:spAutoFit/>
          </a:bodyPr>
          <a:lstStyle/>
          <a:p>
            <a:pPr>
              <a:spcAft>
                <a:spcPts val="600"/>
              </a:spcAft>
              <a:defRPr sz="1800" b="0">
                <a:solidFill>
                  <a:srgbClr val="243746"/>
                </a:solidFill>
                <a:latin typeface="Aptos"/>
              </a:defRPr>
            </a:pPr>
            <a:r>
              <a:t>Closed after 72h</a:t>
            </a:r>
          </a:p>
        </p:txBody>
      </p:sp>
      <p:sp>
        <p:nvSpPr>
          <p:cNvPr id="19" name="TextBox 18"/>
          <p:cNvSpPr txBox="1"/>
          <p:nvPr/>
        </p:nvSpPr>
        <p:spPr>
          <a:xfrm>
            <a:off x="685800" y="5852160"/>
            <a:ext cx="10972800" cy="329184"/>
          </a:xfrm>
          <a:prstGeom prst="rect">
            <a:avLst/>
          </a:prstGeom>
          <a:noFill/>
        </p:spPr>
        <p:txBody>
          <a:bodyPr wrap="square" lIns="27432" rIns="27432" tIns="18288" bIns="18288">
            <a:spAutoFit/>
          </a:bodyPr>
          <a:lstStyle/>
          <a:p>
            <a:pPr>
              <a:spcAft>
                <a:spcPts val="600"/>
              </a:spcAft>
              <a:defRPr sz="1600" b="0">
                <a:solidFill>
                  <a:srgbClr val="6D7B88"/>
                </a:solidFill>
                <a:latin typeface="Aptos"/>
              </a:defRPr>
            </a:pPr>
            <a:r>
              <a:t>Filter: HEAT/HOT WATER  ·  Created 1 Oct 2024–31 May 2025  ·  NYC Open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EDA: complaint volume rises in winter</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04</a:t>
            </a:r>
          </a:p>
        </p:txBody>
      </p:sp>
      <p:pic>
        <p:nvPicPr>
          <p:cNvPr id="7" name="Picture 6" descr="01_monthly_counts.png"/>
          <p:cNvPicPr>
            <a:picLocks noChangeAspect="1"/>
          </p:cNvPicPr>
          <p:nvPr/>
        </p:nvPicPr>
        <p:blipFill>
          <a:blip r:embed="rId2"/>
          <a:stretch>
            <a:fillRect/>
          </a:stretch>
        </p:blipFill>
        <p:spPr>
          <a:xfrm>
            <a:off x="749808" y="1609344"/>
            <a:ext cx="10671048" cy="3913632"/>
          </a:xfrm>
          <a:prstGeom prst="rect">
            <a:avLst/>
          </a:prstGeom>
        </p:spPr>
      </p:pic>
      <p:sp>
        <p:nvSpPr>
          <p:cNvPr id="8" name="TextBox 7"/>
          <p:cNvSpPr txBox="1"/>
          <p:nvPr/>
        </p:nvSpPr>
        <p:spPr>
          <a:xfrm>
            <a:off x="914400" y="5696712"/>
            <a:ext cx="10789920" cy="457200"/>
          </a:xfrm>
          <a:prstGeom prst="rect">
            <a:avLst/>
          </a:prstGeom>
          <a:noFill/>
        </p:spPr>
        <p:txBody>
          <a:bodyPr wrap="square" lIns="27432" rIns="27432" tIns="18288" bIns="18288">
            <a:spAutoFit/>
          </a:bodyPr>
          <a:lstStyle/>
          <a:p>
            <a:pPr>
              <a:spcAft>
                <a:spcPts val="600"/>
              </a:spcAft>
              <a:defRPr sz="2000" b="1">
                <a:solidFill>
                  <a:srgbClr val="137B74"/>
                </a:solidFill>
                <a:latin typeface="Aptos"/>
              </a:defRPr>
            </a:pPr>
            <a:r>
              <a:t>January 2025 had the highest request volume in the selected season.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EDA: administrative closure time differs by borough</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05</a:t>
            </a:r>
          </a:p>
        </p:txBody>
      </p:sp>
      <p:pic>
        <p:nvPicPr>
          <p:cNvPr id="7" name="Picture 6" descr="03_borough_delay_rate.png"/>
          <p:cNvPicPr>
            <a:picLocks noChangeAspect="1"/>
          </p:cNvPicPr>
          <p:nvPr/>
        </p:nvPicPr>
        <p:blipFill>
          <a:blip r:embed="rId2"/>
          <a:stretch>
            <a:fillRect/>
          </a:stretch>
        </p:blipFill>
        <p:spPr>
          <a:xfrm>
            <a:off x="749808" y="1618488"/>
            <a:ext cx="10671048" cy="3959352"/>
          </a:xfrm>
          <a:prstGeom prst="rect">
            <a:avLst/>
          </a:prstGeom>
        </p:spPr>
      </p:pic>
      <p:sp>
        <p:nvSpPr>
          <p:cNvPr id="8" name="TextBox 7"/>
          <p:cNvSpPr txBox="1"/>
          <p:nvPr/>
        </p:nvSpPr>
        <p:spPr>
          <a:xfrm>
            <a:off x="914400" y="5742432"/>
            <a:ext cx="10789920" cy="493776"/>
          </a:xfrm>
          <a:prstGeom prst="rect">
            <a:avLst/>
          </a:prstGeom>
          <a:noFill/>
        </p:spPr>
        <p:txBody>
          <a:bodyPr wrap="square" lIns="27432" rIns="27432" tIns="18288" bIns="18288">
            <a:spAutoFit/>
          </a:bodyPr>
          <a:lstStyle/>
          <a:p>
            <a:pPr>
              <a:spcAft>
                <a:spcPts val="600"/>
              </a:spcAft>
              <a:defRPr sz="1900" b="1">
                <a:solidFill>
                  <a:srgbClr val="137B74"/>
                </a:solidFill>
                <a:latin typeface="Aptos"/>
              </a:defRPr>
            </a:pPr>
            <a:r>
              <a:t>Manhattan: 27.1%     Bronx: 9.8%     (descriptive comparison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How the first model works</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06</a:t>
            </a:r>
          </a:p>
        </p:txBody>
      </p:sp>
      <p:sp>
        <p:nvSpPr>
          <p:cNvPr id="7" name="Rounded Rectangle 6"/>
          <p:cNvSpPr/>
          <p:nvPr/>
        </p:nvSpPr>
        <p:spPr>
          <a:xfrm>
            <a:off x="594360" y="1874519"/>
            <a:ext cx="3401568" cy="2889504"/>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85415"/>
            <a:ext cx="2944368" cy="411480"/>
          </a:xfrm>
          <a:prstGeom prst="rect">
            <a:avLst/>
          </a:prstGeom>
          <a:noFill/>
        </p:spPr>
        <p:txBody>
          <a:bodyPr wrap="square" lIns="27432" rIns="27432" tIns="18288" bIns="18288">
            <a:spAutoFit/>
          </a:bodyPr>
          <a:lstStyle/>
          <a:p>
            <a:pPr>
              <a:spcAft>
                <a:spcPts val="600"/>
              </a:spcAft>
              <a:defRPr sz="2000" b="1">
                <a:solidFill>
                  <a:srgbClr val="137B74"/>
                </a:solidFill>
                <a:latin typeface="Aptos"/>
              </a:defRPr>
            </a:pPr>
            <a:r>
              <a:t>INPUT</a:t>
            </a:r>
          </a:p>
        </p:txBody>
      </p:sp>
      <p:sp>
        <p:nvSpPr>
          <p:cNvPr id="9" name="TextBox 8"/>
          <p:cNvSpPr txBox="1"/>
          <p:nvPr/>
        </p:nvSpPr>
        <p:spPr>
          <a:xfrm>
            <a:off x="822960" y="2816352"/>
            <a:ext cx="2944368" cy="1691640"/>
          </a:xfrm>
          <a:prstGeom prst="rect">
            <a:avLst/>
          </a:prstGeom>
          <a:noFill/>
        </p:spPr>
        <p:txBody>
          <a:bodyPr wrap="square" lIns="27432" rIns="27432" tIns="18288" bIns="18288">
            <a:spAutoFit/>
          </a:bodyPr>
          <a:lstStyle/>
          <a:p>
            <a:pPr>
              <a:spcAft>
                <a:spcPts val="600"/>
              </a:spcAft>
              <a:defRPr sz="2000" b="0">
                <a:solidFill>
                  <a:srgbClr val="243746"/>
                </a:solidFill>
                <a:latin typeface="Aptos"/>
              </a:defRPr>
            </a:pPr>
            <a:r>
              <a:t>Borough</a:t>
            </a:r>
          </a:p>
          <a:p>
            <a:pPr>
              <a:spcAft>
                <a:spcPts val="600"/>
              </a:spcAft>
              <a:defRPr sz="2000" b="0">
                <a:solidFill>
                  <a:srgbClr val="243746"/>
                </a:solidFill>
                <a:latin typeface="Aptos"/>
              </a:defRPr>
            </a:pPr>
            <a:r>
              <a:t>Complaint detail</a:t>
            </a:r>
          </a:p>
          <a:p>
            <a:pPr>
              <a:spcAft>
                <a:spcPts val="600"/>
              </a:spcAft>
              <a:defRPr sz="2000" b="0">
                <a:solidFill>
                  <a:srgbClr val="243746"/>
                </a:solidFill>
                <a:latin typeface="Aptos"/>
              </a:defRPr>
            </a:pPr>
            <a:r>
              <a:t>Month / weekday / hour</a:t>
            </a:r>
          </a:p>
        </p:txBody>
      </p:sp>
      <p:sp>
        <p:nvSpPr>
          <p:cNvPr id="10" name="Rounded Rectangle 9"/>
          <p:cNvSpPr/>
          <p:nvPr/>
        </p:nvSpPr>
        <p:spPr>
          <a:xfrm>
            <a:off x="4389120" y="1874519"/>
            <a:ext cx="3401568" cy="2889504"/>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85415"/>
            <a:ext cx="2944368" cy="411480"/>
          </a:xfrm>
          <a:prstGeom prst="rect">
            <a:avLst/>
          </a:prstGeom>
          <a:noFill/>
        </p:spPr>
        <p:txBody>
          <a:bodyPr wrap="square" lIns="27432" rIns="27432" tIns="18288" bIns="18288">
            <a:spAutoFit/>
          </a:bodyPr>
          <a:lstStyle/>
          <a:p>
            <a:pPr>
              <a:spcAft>
                <a:spcPts val="600"/>
              </a:spcAft>
              <a:defRPr sz="2000" b="1">
                <a:solidFill>
                  <a:srgbClr val="137B74"/>
                </a:solidFill>
                <a:latin typeface="Aptos"/>
              </a:defRPr>
            </a:pPr>
            <a:r>
              <a:t>MODEL</a:t>
            </a:r>
          </a:p>
        </p:txBody>
      </p:sp>
      <p:sp>
        <p:nvSpPr>
          <p:cNvPr id="12" name="TextBox 11"/>
          <p:cNvSpPr txBox="1"/>
          <p:nvPr/>
        </p:nvSpPr>
        <p:spPr>
          <a:xfrm>
            <a:off x="4617720" y="2816352"/>
            <a:ext cx="2944368" cy="1691640"/>
          </a:xfrm>
          <a:prstGeom prst="rect">
            <a:avLst/>
          </a:prstGeom>
          <a:noFill/>
        </p:spPr>
        <p:txBody>
          <a:bodyPr wrap="square" lIns="27432" rIns="27432" tIns="18288" bIns="18288">
            <a:spAutoFit/>
          </a:bodyPr>
          <a:lstStyle/>
          <a:p>
            <a:pPr>
              <a:spcAft>
                <a:spcPts val="600"/>
              </a:spcAft>
              <a:defRPr sz="2000" b="0">
                <a:solidFill>
                  <a:srgbClr val="243746"/>
                </a:solidFill>
                <a:latin typeface="Aptos"/>
              </a:defRPr>
            </a:pPr>
            <a:r>
              <a:t>Logistic regression</a:t>
            </a:r>
          </a:p>
          <a:p>
            <a:pPr>
              <a:spcAft>
                <a:spcPts val="600"/>
              </a:spcAft>
              <a:defRPr sz="2000" b="0">
                <a:solidFill>
                  <a:srgbClr val="243746"/>
                </a:solidFill>
                <a:latin typeface="Aptos"/>
              </a:defRPr>
            </a:pPr>
            <a:r>
              <a:t>Random forest</a:t>
            </a:r>
          </a:p>
          <a:p>
            <a:pPr>
              <a:spcAft>
                <a:spcPts val="600"/>
              </a:spcAft>
              <a:defRPr sz="2000" b="0">
                <a:solidFill>
                  <a:srgbClr val="243746"/>
                </a:solidFill>
                <a:latin typeface="Aptos"/>
              </a:defRPr>
            </a:pPr>
            <a:r>
              <a:t>Prior-only baseline</a:t>
            </a:r>
          </a:p>
        </p:txBody>
      </p:sp>
      <p:sp>
        <p:nvSpPr>
          <p:cNvPr id="13" name="Rounded Rectangle 12"/>
          <p:cNvSpPr/>
          <p:nvPr/>
        </p:nvSpPr>
        <p:spPr>
          <a:xfrm>
            <a:off x="8183879" y="1874519"/>
            <a:ext cx="3401568" cy="2889504"/>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185415"/>
            <a:ext cx="2944368" cy="411480"/>
          </a:xfrm>
          <a:prstGeom prst="rect">
            <a:avLst/>
          </a:prstGeom>
          <a:noFill/>
        </p:spPr>
        <p:txBody>
          <a:bodyPr wrap="square" lIns="27432" rIns="27432" tIns="18288" bIns="18288">
            <a:spAutoFit/>
          </a:bodyPr>
          <a:lstStyle/>
          <a:p>
            <a:pPr>
              <a:spcAft>
                <a:spcPts val="600"/>
              </a:spcAft>
              <a:defRPr sz="2000" b="1">
                <a:solidFill>
                  <a:srgbClr val="137B74"/>
                </a:solidFill>
                <a:latin typeface="Aptos"/>
              </a:defRPr>
            </a:pPr>
            <a:r>
              <a:t>OUTPUT</a:t>
            </a:r>
          </a:p>
        </p:txBody>
      </p:sp>
      <p:sp>
        <p:nvSpPr>
          <p:cNvPr id="15" name="TextBox 14"/>
          <p:cNvSpPr txBox="1"/>
          <p:nvPr/>
        </p:nvSpPr>
        <p:spPr>
          <a:xfrm>
            <a:off x="8412480" y="2816352"/>
            <a:ext cx="2944368" cy="1691640"/>
          </a:xfrm>
          <a:prstGeom prst="rect">
            <a:avLst/>
          </a:prstGeom>
          <a:noFill/>
        </p:spPr>
        <p:txBody>
          <a:bodyPr wrap="square" lIns="27432" rIns="27432" tIns="18288" bIns="18288">
            <a:spAutoFit/>
          </a:bodyPr>
          <a:lstStyle/>
          <a:p>
            <a:pPr>
              <a:spcAft>
                <a:spcPts val="600"/>
              </a:spcAft>
              <a:defRPr sz="2000" b="0">
                <a:solidFill>
                  <a:srgbClr val="243746"/>
                </a:solidFill>
                <a:latin typeface="Aptos"/>
              </a:defRPr>
            </a:pPr>
            <a:r>
              <a:t>Estimated risk of</a:t>
            </a:r>
          </a:p>
          <a:p>
            <a:pPr>
              <a:spcAft>
                <a:spcPts val="600"/>
              </a:spcAft>
              <a:defRPr sz="2000" b="0">
                <a:solidFill>
                  <a:srgbClr val="243746"/>
                </a:solidFill>
                <a:latin typeface="Aptos"/>
              </a:defRPr>
            </a:pPr>
            <a:r>
              <a:t>closure after 72h</a:t>
            </a:r>
          </a:p>
          <a:p>
            <a:pPr>
              <a:spcAft>
                <a:spcPts val="600"/>
              </a:spcAft>
              <a:defRPr sz="2000" b="0">
                <a:solidFill>
                  <a:srgbClr val="243746"/>
                </a:solidFill>
                <a:latin typeface="Aptos"/>
              </a:defRPr>
            </a:pPr>
            <a:r>
              <a:t>+ a caution message</a:t>
            </a:r>
          </a:p>
        </p:txBody>
      </p:sp>
      <p:sp>
        <p:nvSpPr>
          <p:cNvPr id="16" name="TextBox 15"/>
          <p:cNvSpPr txBox="1"/>
          <p:nvPr/>
        </p:nvSpPr>
        <p:spPr>
          <a:xfrm>
            <a:off x="4023360" y="2953512"/>
            <a:ext cx="365760" cy="457200"/>
          </a:xfrm>
          <a:prstGeom prst="rect">
            <a:avLst/>
          </a:prstGeom>
          <a:noFill/>
        </p:spPr>
        <p:txBody>
          <a:bodyPr wrap="square" lIns="27432" rIns="27432" tIns="18288" bIns="18288">
            <a:spAutoFit/>
          </a:bodyPr>
          <a:lstStyle/>
          <a:p>
            <a:pPr>
              <a:spcAft>
                <a:spcPts val="600"/>
              </a:spcAft>
              <a:defRPr sz="2700" b="1">
                <a:solidFill>
                  <a:srgbClr val="137B74"/>
                </a:solidFill>
                <a:latin typeface="Aptos"/>
              </a:defRPr>
            </a:pPr>
            <a:r>
              <a:t>→</a:t>
            </a:r>
          </a:p>
        </p:txBody>
      </p:sp>
      <p:sp>
        <p:nvSpPr>
          <p:cNvPr id="17" name="TextBox 16"/>
          <p:cNvSpPr txBox="1"/>
          <p:nvPr/>
        </p:nvSpPr>
        <p:spPr>
          <a:xfrm>
            <a:off x="7818120" y="2953512"/>
            <a:ext cx="365760" cy="457200"/>
          </a:xfrm>
          <a:prstGeom prst="rect">
            <a:avLst/>
          </a:prstGeom>
          <a:noFill/>
        </p:spPr>
        <p:txBody>
          <a:bodyPr wrap="square" lIns="27432" rIns="27432" tIns="18288" bIns="18288">
            <a:spAutoFit/>
          </a:bodyPr>
          <a:lstStyle/>
          <a:p>
            <a:pPr>
              <a:spcAft>
                <a:spcPts val="600"/>
              </a:spcAft>
              <a:defRPr sz="2700" b="1">
                <a:solidFill>
                  <a:srgbClr val="137B74"/>
                </a:solidFill>
                <a:latin typeface="Aptos"/>
              </a:defRPr>
            </a:pPr>
            <a:r>
              <a:t>→</a:t>
            </a:r>
          </a:p>
        </p:txBody>
      </p:sp>
      <p:sp>
        <p:nvSpPr>
          <p:cNvPr id="18" name="TextBox 17"/>
          <p:cNvSpPr txBox="1"/>
          <p:nvPr/>
        </p:nvSpPr>
        <p:spPr>
          <a:xfrm>
            <a:off x="640080" y="5367528"/>
            <a:ext cx="10972800" cy="795528"/>
          </a:xfrm>
          <a:prstGeom prst="rect">
            <a:avLst/>
          </a:prstGeom>
          <a:noFill/>
        </p:spPr>
        <p:txBody>
          <a:bodyPr wrap="square" lIns="27432" rIns="27432" tIns="18288" bIns="18288">
            <a:spAutoFit/>
          </a:bodyPr>
          <a:lstStyle/>
          <a:p>
            <a:pPr>
              <a:spcAft>
                <a:spcPts val="600"/>
              </a:spcAft>
              <a:defRPr sz="1900" b="0">
                <a:solidFill>
                  <a:srgbClr val="6D7B88"/>
                </a:solidFill>
                <a:latin typeface="Aptos"/>
              </a:defRPr>
            </a:pPr>
            <a:r>
              <a:t>Train: Oct 2024–Feb 2025   /   Test: Mar–May 2025   /   No closed-date input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First experiment: models beat the baseline at ranking</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07</a:t>
            </a:r>
          </a:p>
        </p:txBody>
      </p:sp>
      <p:pic>
        <p:nvPicPr>
          <p:cNvPr id="7" name="Picture 6" descr="06_pr_auc_focused.png"/>
          <p:cNvPicPr>
            <a:picLocks noChangeAspect="1"/>
          </p:cNvPicPr>
          <p:nvPr/>
        </p:nvPicPr>
        <p:blipFill>
          <a:blip r:embed="rId2"/>
          <a:stretch>
            <a:fillRect/>
          </a:stretch>
        </p:blipFill>
        <p:spPr>
          <a:xfrm>
            <a:off x="502920" y="1682496"/>
            <a:ext cx="6812280" cy="3401568"/>
          </a:xfrm>
          <a:prstGeom prst="rect">
            <a:avLst/>
          </a:prstGeom>
        </p:spPr>
      </p:pic>
      <p:sp>
        <p:nvSpPr>
          <p:cNvPr id="8" name="Rounded Rectangle 7"/>
          <p:cNvSpPr/>
          <p:nvPr/>
        </p:nvSpPr>
        <p:spPr>
          <a:xfrm>
            <a:off x="7589520" y="1755648"/>
            <a:ext cx="4023360" cy="3127248"/>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2983" y="2048256"/>
            <a:ext cx="3291840" cy="457200"/>
          </a:xfrm>
          <a:prstGeom prst="rect">
            <a:avLst/>
          </a:prstGeom>
          <a:noFill/>
        </p:spPr>
        <p:txBody>
          <a:bodyPr wrap="square" lIns="27432" rIns="27432" tIns="18288" bIns="18288">
            <a:spAutoFit/>
          </a:bodyPr>
          <a:lstStyle/>
          <a:p>
            <a:pPr>
              <a:spcAft>
                <a:spcPts val="600"/>
              </a:spcAft>
              <a:defRPr sz="1800" b="1">
                <a:solidFill>
                  <a:srgbClr val="137B74"/>
                </a:solidFill>
                <a:latin typeface="Aptos"/>
              </a:defRPr>
            </a:pPr>
            <a:r>
              <a:t>ROC-AUC</a:t>
            </a:r>
          </a:p>
        </p:txBody>
      </p:sp>
      <p:sp>
        <p:nvSpPr>
          <p:cNvPr id="10" name="TextBox 9"/>
          <p:cNvSpPr txBox="1"/>
          <p:nvPr/>
        </p:nvSpPr>
        <p:spPr>
          <a:xfrm>
            <a:off x="7872983" y="2560320"/>
            <a:ext cx="3200400" cy="594360"/>
          </a:xfrm>
          <a:prstGeom prst="rect">
            <a:avLst/>
          </a:prstGeom>
          <a:noFill/>
        </p:spPr>
        <p:txBody>
          <a:bodyPr wrap="square" lIns="27432" rIns="27432" tIns="18288" bIns="18288">
            <a:spAutoFit/>
          </a:bodyPr>
          <a:lstStyle/>
          <a:p>
            <a:pPr>
              <a:spcAft>
                <a:spcPts val="600"/>
              </a:spcAft>
              <a:defRPr sz="3200" b="1">
                <a:solidFill>
                  <a:srgbClr val="243746"/>
                </a:solidFill>
                <a:latin typeface="Aptos"/>
              </a:defRPr>
            </a:pPr>
            <a:r>
              <a:t>0.697</a:t>
            </a:r>
          </a:p>
        </p:txBody>
      </p:sp>
      <p:sp>
        <p:nvSpPr>
          <p:cNvPr id="11" name="TextBox 10"/>
          <p:cNvSpPr txBox="1"/>
          <p:nvPr/>
        </p:nvSpPr>
        <p:spPr>
          <a:xfrm>
            <a:off x="7872983" y="3145536"/>
            <a:ext cx="3200400" cy="384048"/>
          </a:xfrm>
          <a:prstGeom prst="rect">
            <a:avLst/>
          </a:prstGeom>
          <a:noFill/>
        </p:spPr>
        <p:txBody>
          <a:bodyPr wrap="square" lIns="27432" rIns="27432" tIns="18288" bIns="18288">
            <a:spAutoFit/>
          </a:bodyPr>
          <a:lstStyle/>
          <a:p>
            <a:pPr>
              <a:spcAft>
                <a:spcPts val="600"/>
              </a:spcAft>
              <a:defRPr sz="1600" b="0">
                <a:solidFill>
                  <a:srgbClr val="243746"/>
                </a:solidFill>
                <a:latin typeface="Aptos"/>
              </a:defRPr>
            </a:pPr>
            <a:r>
              <a:t>Random forest</a:t>
            </a:r>
          </a:p>
        </p:txBody>
      </p:sp>
      <p:sp>
        <p:nvSpPr>
          <p:cNvPr id="12" name="TextBox 11"/>
          <p:cNvSpPr txBox="1"/>
          <p:nvPr/>
        </p:nvSpPr>
        <p:spPr>
          <a:xfrm>
            <a:off x="7872983" y="3840480"/>
            <a:ext cx="3200400" cy="384048"/>
          </a:xfrm>
          <a:prstGeom prst="rect">
            <a:avLst/>
          </a:prstGeom>
          <a:noFill/>
        </p:spPr>
        <p:txBody>
          <a:bodyPr wrap="square" lIns="27432" rIns="27432" tIns="18288" bIns="18288">
            <a:spAutoFit/>
          </a:bodyPr>
          <a:lstStyle/>
          <a:p>
            <a:pPr>
              <a:spcAft>
                <a:spcPts val="600"/>
              </a:spcAft>
              <a:defRPr sz="1500" b="0">
                <a:solidFill>
                  <a:srgbClr val="6D7B88"/>
                </a:solidFill>
                <a:latin typeface="Aptos"/>
              </a:defRPr>
            </a:pPr>
            <a:r>
              <a:t>Logistic regression: 0.687</a:t>
            </a:r>
          </a:p>
        </p:txBody>
      </p:sp>
      <p:sp>
        <p:nvSpPr>
          <p:cNvPr id="13" name="TextBox 12"/>
          <p:cNvSpPr txBox="1"/>
          <p:nvPr/>
        </p:nvSpPr>
        <p:spPr>
          <a:xfrm>
            <a:off x="786384" y="5559552"/>
            <a:ext cx="10789920" cy="576072"/>
          </a:xfrm>
          <a:prstGeom prst="rect">
            <a:avLst/>
          </a:prstGeom>
          <a:noFill/>
        </p:spPr>
        <p:txBody>
          <a:bodyPr wrap="square" lIns="27432" rIns="27432" tIns="18288" bIns="18288">
            <a:spAutoFit/>
          </a:bodyPr>
          <a:lstStyle/>
          <a:p>
            <a:pPr>
              <a:spcAft>
                <a:spcPts val="600"/>
              </a:spcAft>
              <a:defRPr sz="2000" b="1">
                <a:solidFill>
                  <a:srgbClr val="137B74"/>
                </a:solidFill>
                <a:latin typeface="Aptos"/>
              </a:defRPr>
            </a:pPr>
            <a:r>
              <a:t>However, the default 50% alert threshold performs poorly.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Rectangle 1"/>
          <p:cNvSpPr/>
          <p:nvPr/>
        </p:nvSpPr>
        <p:spPr>
          <a:xfrm>
            <a:off x="0" y="0"/>
            <a:ext cx="12188952" cy="100584"/>
          </a:xfrm>
          <a:prstGeom prst="rect">
            <a:avLst/>
          </a:prstGeom>
          <a:solidFill>
            <a:srgbClr val="137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274320"/>
            <a:ext cx="9144000" cy="274320"/>
          </a:xfrm>
          <a:prstGeom prst="rect">
            <a:avLst/>
          </a:prstGeom>
          <a:noFill/>
        </p:spPr>
        <p:txBody>
          <a:bodyPr wrap="square" lIns="27432" rIns="27432" tIns="18288" bIns="18288">
            <a:spAutoFit/>
          </a:bodyPr>
          <a:lstStyle/>
          <a:p>
            <a:pPr>
              <a:spcAft>
                <a:spcPts val="600"/>
              </a:spcAft>
              <a:defRPr sz="1200" b="1">
                <a:solidFill>
                  <a:srgbClr val="137B74"/>
                </a:solidFill>
                <a:latin typeface="Aptos"/>
              </a:defRPr>
            </a:pPr>
            <a:r>
              <a:t>AI for the SDGs  /  Assignment 1</a:t>
            </a:r>
          </a:p>
        </p:txBody>
      </p:sp>
      <p:sp>
        <p:nvSpPr>
          <p:cNvPr id="4" name="TextBox 3"/>
          <p:cNvSpPr txBox="1"/>
          <p:nvPr/>
        </p:nvSpPr>
        <p:spPr>
          <a:xfrm>
            <a:off x="493776" y="758952"/>
            <a:ext cx="11155680" cy="685800"/>
          </a:xfrm>
          <a:prstGeom prst="rect">
            <a:avLst/>
          </a:prstGeom>
          <a:noFill/>
        </p:spPr>
        <p:txBody>
          <a:bodyPr wrap="square" lIns="27432" rIns="27432" tIns="18288" bIns="18288">
            <a:spAutoFit/>
          </a:bodyPr>
          <a:lstStyle/>
          <a:p>
            <a:pPr>
              <a:spcAft>
                <a:spcPts val="600"/>
              </a:spcAft>
              <a:defRPr sz="2900" b="1">
                <a:solidFill>
                  <a:srgbClr val="243746"/>
                </a:solidFill>
                <a:latin typeface="Aptos"/>
              </a:defRPr>
            </a:pPr>
            <a:r>
              <a:t>What we learned — and what comes next</a:t>
            </a:r>
          </a:p>
        </p:txBody>
      </p:sp>
      <p:sp>
        <p:nvSpPr>
          <p:cNvPr id="5" name="TextBox 4"/>
          <p:cNvSpPr txBox="1"/>
          <p:nvPr/>
        </p:nvSpPr>
        <p:spPr>
          <a:xfrm>
            <a:off x="502920" y="6501384"/>
            <a:ext cx="59436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GROUP 11  /  19 OCT 2026</a:t>
            </a:r>
          </a:p>
        </p:txBody>
      </p:sp>
      <p:sp>
        <p:nvSpPr>
          <p:cNvPr id="6" name="TextBox 5"/>
          <p:cNvSpPr txBox="1"/>
          <p:nvPr/>
        </p:nvSpPr>
        <p:spPr>
          <a:xfrm>
            <a:off x="11247120" y="6473952"/>
            <a:ext cx="457200" cy="228600"/>
          </a:xfrm>
          <a:prstGeom prst="rect">
            <a:avLst/>
          </a:prstGeom>
          <a:noFill/>
        </p:spPr>
        <p:txBody>
          <a:bodyPr wrap="square" lIns="27432" rIns="27432" tIns="18288" bIns="18288">
            <a:spAutoFit/>
          </a:bodyPr>
          <a:lstStyle/>
          <a:p>
            <a:pPr>
              <a:spcAft>
                <a:spcPts val="600"/>
              </a:spcAft>
              <a:defRPr sz="1000" b="0">
                <a:solidFill>
                  <a:srgbClr val="6D7B88"/>
                </a:solidFill>
                <a:latin typeface="Aptos"/>
              </a:defRPr>
            </a:pPr>
            <a:r>
              <a:t>08</a:t>
            </a:r>
          </a:p>
        </p:txBody>
      </p:sp>
      <p:pic>
        <p:nvPicPr>
          <p:cNvPr id="7" name="Picture 6" descr="07_train_test_shift.png"/>
          <p:cNvPicPr>
            <a:picLocks noChangeAspect="1"/>
          </p:cNvPicPr>
          <p:nvPr/>
        </p:nvPicPr>
        <p:blipFill>
          <a:blip r:embed="rId2"/>
          <a:stretch>
            <a:fillRect/>
          </a:stretch>
        </p:blipFill>
        <p:spPr>
          <a:xfrm>
            <a:off x="548640" y="1655064"/>
            <a:ext cx="5596128" cy="3429000"/>
          </a:xfrm>
          <a:prstGeom prst="rect">
            <a:avLst/>
          </a:prstGeom>
        </p:spPr>
      </p:pic>
      <p:sp>
        <p:nvSpPr>
          <p:cNvPr id="8" name="Rounded Rectangle 7"/>
          <p:cNvSpPr/>
          <p:nvPr/>
        </p:nvSpPr>
        <p:spPr>
          <a:xfrm>
            <a:off x="6336792" y="1709928"/>
            <a:ext cx="5202936" cy="3474720"/>
          </a:xfrm>
          <a:prstGeom prst="roundRect">
            <a:avLst/>
          </a:prstGeom>
          <a:solidFill>
            <a:srgbClr val="EE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1975104"/>
            <a:ext cx="4572000" cy="457200"/>
          </a:xfrm>
          <a:prstGeom prst="rect">
            <a:avLst/>
          </a:prstGeom>
          <a:noFill/>
        </p:spPr>
        <p:txBody>
          <a:bodyPr wrap="square" lIns="27432" rIns="27432" tIns="18288" bIns="18288">
            <a:spAutoFit/>
          </a:bodyPr>
          <a:lstStyle/>
          <a:p>
            <a:pPr>
              <a:spcAft>
                <a:spcPts val="600"/>
              </a:spcAft>
              <a:defRPr sz="2200" b="1">
                <a:solidFill>
                  <a:srgbClr val="137B74"/>
                </a:solidFill>
                <a:latin typeface="Aptos"/>
              </a:defRPr>
            </a:pPr>
            <a:r>
              <a:t>Limitations</a:t>
            </a:r>
          </a:p>
        </p:txBody>
      </p:sp>
      <p:sp>
        <p:nvSpPr>
          <p:cNvPr id="10" name="TextBox 9"/>
          <p:cNvSpPr txBox="1"/>
          <p:nvPr/>
        </p:nvSpPr>
        <p:spPr>
          <a:xfrm>
            <a:off x="6601968" y="2624328"/>
            <a:ext cx="4599432" cy="2331720"/>
          </a:xfrm>
          <a:prstGeom prst="rect">
            <a:avLst/>
          </a:prstGeom>
          <a:noFill/>
        </p:spPr>
        <p:txBody>
          <a:bodyPr wrap="square" lIns="27432" rIns="27432" tIns="18288" bIns="18288">
            <a:spAutoFit/>
          </a:bodyPr>
          <a:lstStyle/>
          <a:p>
            <a:pPr>
              <a:spcAft>
                <a:spcPts val="600"/>
              </a:spcAft>
              <a:defRPr sz="1700" b="0">
                <a:solidFill>
                  <a:srgbClr val="243746"/>
                </a:solidFill>
                <a:latin typeface="Aptos"/>
              </a:defRPr>
            </a:pPr>
            <a:r>
              <a:t>• Different delay rates across months</a:t>
            </a:r>
          </a:p>
          <a:p>
            <a:pPr>
              <a:spcAft>
                <a:spcPts val="600"/>
              </a:spcAft>
              <a:defRPr sz="1700" b="0">
                <a:solidFill>
                  <a:srgbClr val="243746"/>
                </a:solidFill>
                <a:latin typeface="Aptos"/>
              </a:defRPr>
            </a:pPr>
            <a:r>
              <a:t>• Closed ≠ repaired</a:t>
            </a:r>
          </a:p>
          <a:p>
            <a:pPr>
              <a:spcAft>
                <a:spcPts val="600"/>
              </a:spcAft>
              <a:defRPr sz="1700" b="0">
                <a:solidFill>
                  <a:srgbClr val="243746"/>
                </a:solidFill>
                <a:latin typeface="Aptos"/>
              </a:defRPr>
            </a:pPr>
            <a:r>
              <a:t>• Missing dates were excluded</a:t>
            </a:r>
          </a:p>
          <a:p>
            <a:pPr>
              <a:spcAft>
                <a:spcPts val="600"/>
              </a:spcAft>
              <a:defRPr sz="1700" b="0">
                <a:solidFill>
                  <a:srgbClr val="243746"/>
                </a:solidFill>
                <a:latin typeface="Aptos"/>
              </a:defRPr>
            </a:pPr>
            <a:r>
              <a:t>• NYC ≠ Türkiye</a:t>
            </a:r>
          </a:p>
          <a:p>
            <a:pPr>
              <a:spcAft>
                <a:spcPts val="600"/>
              </a:spcAft>
              <a:defRPr sz="1700" b="0">
                <a:solidFill>
                  <a:srgbClr val="243746"/>
                </a:solidFill>
                <a:latin typeface="Aptos"/>
              </a:defRPr>
            </a:pPr>
            <a:r>
              <a:t>• No automatic service decisions</a:t>
            </a:r>
          </a:p>
        </p:txBody>
      </p:sp>
      <p:sp>
        <p:nvSpPr>
          <p:cNvPr id="11" name="TextBox 10"/>
          <p:cNvSpPr txBox="1"/>
          <p:nvPr/>
        </p:nvSpPr>
        <p:spPr>
          <a:xfrm>
            <a:off x="621792" y="5532120"/>
            <a:ext cx="10972800" cy="685800"/>
          </a:xfrm>
          <a:prstGeom prst="rect">
            <a:avLst/>
          </a:prstGeom>
          <a:noFill/>
        </p:spPr>
        <p:txBody>
          <a:bodyPr wrap="square" lIns="27432" rIns="27432" tIns="18288" bIns="18288">
            <a:spAutoFit/>
          </a:bodyPr>
          <a:lstStyle/>
          <a:p>
            <a:pPr>
              <a:spcAft>
                <a:spcPts val="600"/>
              </a:spcAft>
              <a:defRPr sz="1900" b="1">
                <a:solidFill>
                  <a:srgbClr val="137B74"/>
                </a:solidFill>
                <a:latin typeface="Aptos"/>
              </a:defRPr>
            </a:pPr>
            <a:r>
              <a:t>Next: a simple Streamlit demo and improved seasonal validation.</a:t>
            </a:r>
          </a:p>
        </p:txBody>
      </p:sp>
      <p:sp>
        <p:nvSpPr>
          <p:cNvPr id="12" name="TextBox 11"/>
          <p:cNvSpPr txBox="1"/>
          <p:nvPr/>
        </p:nvSpPr>
        <p:spPr>
          <a:xfrm>
            <a:off x="612648" y="6089904"/>
            <a:ext cx="10972800" cy="292608"/>
          </a:xfrm>
          <a:prstGeom prst="rect">
            <a:avLst/>
          </a:prstGeom>
          <a:noFill/>
        </p:spPr>
        <p:txBody>
          <a:bodyPr wrap="square" lIns="27432" rIns="27432" tIns="18288" bIns="18288">
            <a:spAutoFit/>
          </a:bodyPr>
          <a:lstStyle/>
          <a:p>
            <a:pPr>
              <a:spcAft>
                <a:spcPts val="600"/>
              </a:spcAft>
              <a:defRPr sz="1200" b="0">
                <a:solidFill>
                  <a:srgbClr val="6D7B88"/>
                </a:solidFill>
                <a:latin typeface="Aptos"/>
              </a:defRPr>
            </a:pPr>
            <a:r>
              <a:t>Sources: NYC Open Data (erm2-nwe9)  •  NYC HPD  •  UN SDG 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